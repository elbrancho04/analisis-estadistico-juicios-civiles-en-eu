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Nunito"/>
      <p:regular r:id="rId17"/>
      <p:bold r:id="rId18"/>
      <p:italic r:id="rId19"/>
      <p:boldItalic r:id="rId20"/>
    </p:embeddedFont>
    <p:embeddedFont>
      <p:font typeface="Maven Pro"/>
      <p:regular r:id="rId21"/>
      <p:bold r:id="rId22"/>
    </p:embeddedFont>
    <p:embeddedFont>
      <p:font typeface="Nunito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22" Type="http://schemas.openxmlformats.org/officeDocument/2006/relationships/font" Target="fonts/MavenPro-bold.fntdata"/><Relationship Id="rId21" Type="http://schemas.openxmlformats.org/officeDocument/2006/relationships/font" Target="fonts/MavenPro-regular.fntdata"/><Relationship Id="rId24" Type="http://schemas.openxmlformats.org/officeDocument/2006/relationships/font" Target="fonts/NunitoMedium-bold.fntdata"/><Relationship Id="rId23" Type="http://schemas.openxmlformats.org/officeDocument/2006/relationships/font" Target="fonts/Nunito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Medium-boldItalic.fntdata"/><Relationship Id="rId25" Type="http://schemas.openxmlformats.org/officeDocument/2006/relationships/font" Target="fonts/Nunito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regular.fntdata"/><Relationship Id="rId16" Type="http://schemas.openxmlformats.org/officeDocument/2006/relationships/slide" Target="slides/slide11.xml"/><Relationship Id="rId19" Type="http://schemas.openxmlformats.org/officeDocument/2006/relationships/font" Target="fonts/Nunito-italic.fntdata"/><Relationship Id="rId18" Type="http://schemas.openxmlformats.org/officeDocument/2006/relationships/font" Target="fonts/Nuni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648b44b78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b648b44b78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648b44b78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b648b44b78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648b44b78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b648b44b78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b648b44b78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b648b44b78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b648b44b78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b648b44b78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b648b44b78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b648b44b78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648b44b78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b648b44b78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648b44b78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b648b44b78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b648b44b78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b648b44b78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b648b44b78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b648b44b78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Análisis Estadístico de Juicios Civiles en Estados Unidos</a:t>
            </a:r>
            <a:endParaRPr/>
          </a:p>
        </p:txBody>
      </p:sp>
      <p:sp>
        <p:nvSpPr>
          <p:cNvPr id="278" name="Google Shape;278;p13"/>
          <p:cNvSpPr txBox="1"/>
          <p:nvPr>
            <p:ph idx="1" type="subTitle"/>
          </p:nvPr>
        </p:nvSpPr>
        <p:spPr>
          <a:xfrm>
            <a:off x="311700" y="3176650"/>
            <a:ext cx="8520600" cy="12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800"/>
              <a:t>Asignatura:Estadística</a:t>
            </a:r>
            <a:endParaRPr sz="1800"/>
          </a:p>
          <a:p>
            <a:pPr indent="0" lvl="0" marL="0" rtl="0" algn="l">
              <a:spcBef>
                <a:spcPts val="0"/>
              </a:spcBef>
              <a:spcAft>
                <a:spcPts val="0"/>
              </a:spcAft>
              <a:buNone/>
            </a:pPr>
            <a:r>
              <a:rPr lang="es-419" sz="1800"/>
              <a:t>Curso:2025-2026</a:t>
            </a:r>
            <a:endParaRPr sz="1800"/>
          </a:p>
          <a:p>
            <a:pPr indent="0" lvl="0" marL="0" rtl="0" algn="l">
              <a:spcBef>
                <a:spcPts val="0"/>
              </a:spcBef>
              <a:spcAft>
                <a:spcPts val="0"/>
              </a:spcAft>
              <a:buNone/>
            </a:pPr>
            <a:r>
              <a:rPr lang="es-419" sz="1800"/>
              <a:t>Integrantes:Ronald Alfonso Pérez , Abraham Rey Sanchez Amador</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sz="2900"/>
              <a:t>¿Qué es un juicio civil y cual es la importancia de su estudio?</a:t>
            </a:r>
            <a:endParaRPr sz="2900"/>
          </a:p>
        </p:txBody>
      </p:sp>
      <p:sp>
        <p:nvSpPr>
          <p:cNvPr id="284" name="Google Shape;284;p1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s-419" sz="1400">
                <a:solidFill>
                  <a:srgbClr val="000000"/>
                </a:solidFill>
                <a:latin typeface="Arial"/>
                <a:ea typeface="Arial"/>
                <a:cs typeface="Arial"/>
                <a:sym typeface="Arial"/>
              </a:rPr>
              <a:t>Los </a:t>
            </a:r>
            <a:r>
              <a:rPr b="1" lang="es-419" sz="1400">
                <a:solidFill>
                  <a:srgbClr val="000000"/>
                </a:solidFill>
                <a:latin typeface="Arial"/>
                <a:ea typeface="Arial"/>
                <a:cs typeface="Arial"/>
                <a:sym typeface="Arial"/>
              </a:rPr>
              <a:t>juicios civiles</a:t>
            </a:r>
            <a:r>
              <a:rPr lang="es-419" sz="1400">
                <a:solidFill>
                  <a:srgbClr val="000000"/>
                </a:solidFill>
                <a:latin typeface="Arial"/>
                <a:ea typeface="Arial"/>
                <a:cs typeface="Arial"/>
                <a:sym typeface="Arial"/>
              </a:rPr>
              <a:t> son procesos judiciales mediante los cuales se resuelven conflictos entre personas o</a:t>
            </a:r>
            <a:r>
              <a:rPr lang="es-419" sz="1100">
                <a:solidFill>
                  <a:srgbClr val="000000"/>
                </a:solidFill>
                <a:latin typeface="Arial"/>
                <a:ea typeface="Arial"/>
                <a:cs typeface="Arial"/>
                <a:sym typeface="Arial"/>
              </a:rPr>
              <a:t> </a:t>
            </a:r>
            <a:r>
              <a:rPr lang="es-419" sz="1400">
                <a:solidFill>
                  <a:srgbClr val="000000"/>
                </a:solidFill>
                <a:latin typeface="Arial"/>
                <a:ea typeface="Arial"/>
                <a:cs typeface="Arial"/>
                <a:sym typeface="Arial"/>
              </a:rPr>
              <a:t>entidades privadas, generalmente relacionados con daños, incumplimientos contractuales o disputas económicas, sin que exista un delito penal.</a:t>
            </a:r>
            <a:endParaRPr sz="1400">
              <a:solidFill>
                <a:srgbClr val="000000"/>
              </a:solidFill>
              <a:latin typeface="Arial"/>
              <a:ea typeface="Arial"/>
              <a:cs typeface="Arial"/>
              <a:sym typeface="Arial"/>
            </a:endParaRPr>
          </a:p>
          <a:p>
            <a:pPr indent="0" lvl="0" marL="0" rtl="0" algn="l">
              <a:spcBef>
                <a:spcPts val="1200"/>
              </a:spcBef>
              <a:spcAft>
                <a:spcPts val="0"/>
              </a:spcAft>
              <a:buNone/>
            </a:pPr>
            <a:r>
              <a:rPr lang="es-419" sz="1400">
                <a:solidFill>
                  <a:srgbClr val="000000"/>
                </a:solidFill>
                <a:latin typeface="Arial"/>
                <a:ea typeface="Arial"/>
                <a:cs typeface="Arial"/>
                <a:sym typeface="Arial"/>
              </a:rPr>
              <a:t>Analizar estadísticamente los juicios civiles es importante debido a su </a:t>
            </a:r>
            <a:r>
              <a:rPr b="1" lang="es-419" sz="1400">
                <a:solidFill>
                  <a:srgbClr val="000000"/>
                </a:solidFill>
                <a:latin typeface="Arial"/>
                <a:ea typeface="Arial"/>
                <a:cs typeface="Arial"/>
                <a:sym typeface="Arial"/>
              </a:rPr>
              <a:t>alto impacto económico y social</a:t>
            </a:r>
            <a:r>
              <a:rPr lang="es-419" sz="1400">
                <a:solidFill>
                  <a:srgbClr val="000000"/>
                </a:solidFill>
                <a:latin typeface="Arial"/>
                <a:ea typeface="Arial"/>
                <a:cs typeface="Arial"/>
                <a:sym typeface="Arial"/>
              </a:rPr>
              <a:t>, ya que las compensaciones otorgadas pueden variar considerablemente entre casos. El estudio de estos patrones permite </a:t>
            </a:r>
            <a:r>
              <a:rPr b="1" lang="es-419" sz="1400">
                <a:solidFill>
                  <a:srgbClr val="000000"/>
                </a:solidFill>
                <a:latin typeface="Arial"/>
                <a:ea typeface="Arial"/>
                <a:cs typeface="Arial"/>
                <a:sym typeface="Arial"/>
              </a:rPr>
              <a:t>comprender mejor los factores que influyen en los resultados</a:t>
            </a:r>
            <a:r>
              <a:rPr lang="es-419" sz="1400">
                <a:solidFill>
                  <a:srgbClr val="000000"/>
                </a:solidFill>
                <a:latin typeface="Arial"/>
                <a:ea typeface="Arial"/>
                <a:cs typeface="Arial"/>
                <a:sym typeface="Arial"/>
              </a:rPr>
              <a:t>, apoyar el análisis de riesgos legales y contribuir a una toma de decisiones judiciales y económicas más informada.</a:t>
            </a: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Preguntas a abordar:</a:t>
            </a:r>
            <a:endParaRPr/>
          </a:p>
        </p:txBody>
      </p:sp>
      <p:sp>
        <p:nvSpPr>
          <p:cNvPr id="290" name="Google Shape;290;p15"/>
          <p:cNvSpPr txBox="1"/>
          <p:nvPr>
            <p:ph idx="1" type="body"/>
          </p:nvPr>
        </p:nvSpPr>
        <p:spPr>
          <a:xfrm>
            <a:off x="937550" y="1443175"/>
            <a:ext cx="7030500" cy="3567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s-419" sz="3400">
                <a:latin typeface="Maven Pro"/>
                <a:ea typeface="Maven Pro"/>
                <a:cs typeface="Maven Pro"/>
                <a:sym typeface="Maven Pro"/>
              </a:rPr>
              <a:t>. ¿Qué variables influyen más en el monto de        compensación otorgado?</a:t>
            </a:r>
            <a:br>
              <a:rPr b="1" lang="es-419" sz="3400">
                <a:latin typeface="Maven Pro"/>
                <a:ea typeface="Maven Pro"/>
                <a:cs typeface="Maven Pro"/>
                <a:sym typeface="Maven Pro"/>
              </a:rPr>
            </a:br>
            <a:endParaRPr b="1" sz="3400">
              <a:latin typeface="Maven Pro"/>
              <a:ea typeface="Maven Pro"/>
              <a:cs typeface="Maven Pro"/>
              <a:sym typeface="Maven Pro"/>
            </a:endParaRPr>
          </a:p>
          <a:p>
            <a:pPr indent="0" lvl="0" marL="0" rtl="0" algn="l">
              <a:spcBef>
                <a:spcPts val="1200"/>
              </a:spcBef>
              <a:spcAft>
                <a:spcPts val="0"/>
              </a:spcAft>
              <a:buNone/>
            </a:pPr>
            <a:r>
              <a:rPr b="1" lang="es-419" sz="3400">
                <a:latin typeface="Maven Pro"/>
                <a:ea typeface="Maven Pro"/>
                <a:cs typeface="Maven Pro"/>
                <a:sym typeface="Maven Pro"/>
              </a:rPr>
              <a:t>. ¿Existen patrones claros entre tipos de casos y resultados económicos?</a:t>
            </a:r>
            <a:br>
              <a:rPr b="1" lang="es-419" sz="3400">
                <a:latin typeface="Maven Pro"/>
                <a:ea typeface="Maven Pro"/>
                <a:cs typeface="Maven Pro"/>
                <a:sym typeface="Maven Pro"/>
              </a:rPr>
            </a:br>
            <a:endParaRPr b="1" sz="3400">
              <a:latin typeface="Maven Pro"/>
              <a:ea typeface="Maven Pro"/>
              <a:cs typeface="Maven Pro"/>
              <a:sym typeface="Maven Pro"/>
            </a:endParaRPr>
          </a:p>
          <a:p>
            <a:pPr indent="0" lvl="0" marL="0" rtl="0" algn="l">
              <a:spcBef>
                <a:spcPts val="1200"/>
              </a:spcBef>
              <a:spcAft>
                <a:spcPts val="0"/>
              </a:spcAft>
              <a:buNone/>
            </a:pPr>
            <a:r>
              <a:rPr b="1" lang="es-419" sz="3400">
                <a:latin typeface="Maven Pro"/>
                <a:ea typeface="Maven Pro"/>
                <a:cs typeface="Maven Pro"/>
                <a:sym typeface="Maven Pro"/>
              </a:rPr>
              <a:t>¿Es posible reducir la dimensionalidad de los datos sin perder información relevante?</a:t>
            </a:r>
            <a:endParaRPr b="1" sz="3400">
              <a:latin typeface="Maven Pro"/>
              <a:ea typeface="Maven Pro"/>
              <a:cs typeface="Maven Pro"/>
              <a:sym typeface="Maven Pro"/>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nvSpPr>
        <p:spPr>
          <a:xfrm>
            <a:off x="150825" y="42600"/>
            <a:ext cx="8733300" cy="50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a:latin typeface="Maven Pro"/>
                <a:ea typeface="Maven Pro"/>
                <a:cs typeface="Maven Pro"/>
                <a:sym typeface="Maven Pro"/>
              </a:rPr>
              <a:t>Fuente:</a:t>
            </a:r>
            <a:r>
              <a:rPr lang="es-419"/>
              <a:t> federal civil litigation dataset obtenido de Kaggle</a:t>
            </a:r>
            <a:br>
              <a:rPr lang="es-419" sz="1100"/>
            </a:br>
            <a:endParaRPr sz="1100"/>
          </a:p>
          <a:p>
            <a:pPr indent="0" lvl="0" marL="0" rtl="0" algn="l">
              <a:spcBef>
                <a:spcPts val="0"/>
              </a:spcBef>
              <a:spcAft>
                <a:spcPts val="0"/>
              </a:spcAft>
              <a:buNone/>
            </a:pPr>
            <a:r>
              <a:rPr b="1" lang="es-419">
                <a:latin typeface="Maven Pro"/>
                <a:ea typeface="Maven Pro"/>
                <a:cs typeface="Maven Pro"/>
                <a:sym typeface="Maven Pro"/>
              </a:rPr>
              <a:t>Número de observaciones:</a:t>
            </a:r>
            <a:r>
              <a:rPr lang="es-419"/>
              <a:t> </a:t>
            </a:r>
            <a:r>
              <a:rPr i="1" lang="es-419"/>
              <a:t>65 000</a:t>
            </a:r>
            <a:br>
              <a:rPr i="1" lang="es-419" sz="1100"/>
            </a:br>
            <a:endParaRPr i="1" sz="1100"/>
          </a:p>
          <a:p>
            <a:pPr indent="0" lvl="0" marL="0" rtl="0" algn="l">
              <a:spcBef>
                <a:spcPts val="0"/>
              </a:spcBef>
              <a:spcAft>
                <a:spcPts val="0"/>
              </a:spcAft>
              <a:buNone/>
            </a:pPr>
            <a:r>
              <a:rPr b="1" lang="es-419">
                <a:latin typeface="Maven Pro"/>
                <a:ea typeface="Maven Pro"/>
                <a:cs typeface="Maven Pro"/>
                <a:sym typeface="Maven Pro"/>
              </a:rPr>
              <a:t>Variables :</a:t>
            </a:r>
            <a:endParaRPr b="1">
              <a:latin typeface="Maven Pro"/>
              <a:ea typeface="Maven Pro"/>
              <a:cs typeface="Maven Pro"/>
              <a:sym typeface="Maven Pro"/>
            </a:endParaRPr>
          </a:p>
          <a:p>
            <a:pPr indent="-298450" lvl="0" marL="457200" rtl="0" algn="l">
              <a:lnSpc>
                <a:spcPct val="115000"/>
              </a:lnSpc>
              <a:spcBef>
                <a:spcPts val="1200"/>
              </a:spcBef>
              <a:spcAft>
                <a:spcPts val="0"/>
              </a:spcAft>
              <a:buSzPts val="1100"/>
              <a:buChar char="●"/>
            </a:pPr>
            <a:r>
              <a:rPr lang="es-419" sz="1100"/>
              <a:t>Identificador de caso</a:t>
            </a:r>
            <a:endParaRPr sz="1100"/>
          </a:p>
          <a:p>
            <a:pPr indent="-298450" lvl="0" marL="457200" rtl="0" algn="l">
              <a:lnSpc>
                <a:spcPct val="115000"/>
              </a:lnSpc>
              <a:spcBef>
                <a:spcPts val="0"/>
              </a:spcBef>
              <a:spcAft>
                <a:spcPts val="0"/>
              </a:spcAft>
              <a:buSzPts val="1100"/>
              <a:buChar char="●"/>
            </a:pPr>
            <a:r>
              <a:rPr lang="es-419" sz="1100"/>
              <a:t>Año de inicio</a:t>
            </a:r>
            <a:endParaRPr sz="1100"/>
          </a:p>
          <a:p>
            <a:pPr indent="-298450" lvl="0" marL="457200" rtl="0" algn="l">
              <a:lnSpc>
                <a:spcPct val="115000"/>
              </a:lnSpc>
              <a:spcBef>
                <a:spcPts val="0"/>
              </a:spcBef>
              <a:spcAft>
                <a:spcPts val="0"/>
              </a:spcAft>
              <a:buSzPts val="1100"/>
              <a:buChar char="●"/>
            </a:pPr>
            <a:r>
              <a:rPr lang="es-419" sz="1100"/>
              <a:t>Circuito Federal</a:t>
            </a:r>
            <a:endParaRPr sz="1100"/>
          </a:p>
          <a:p>
            <a:pPr indent="-298450" lvl="0" marL="457200" rtl="0" algn="l">
              <a:lnSpc>
                <a:spcPct val="115000"/>
              </a:lnSpc>
              <a:spcBef>
                <a:spcPts val="0"/>
              </a:spcBef>
              <a:spcAft>
                <a:spcPts val="0"/>
              </a:spcAft>
              <a:buSzPts val="1100"/>
              <a:buChar char="●"/>
            </a:pPr>
            <a:r>
              <a:rPr lang="es-419" sz="1100"/>
              <a:t>Distrito</a:t>
            </a:r>
            <a:endParaRPr sz="1100"/>
          </a:p>
          <a:p>
            <a:pPr indent="-298450" lvl="0" marL="457200" rtl="0" algn="l">
              <a:lnSpc>
                <a:spcPct val="115000"/>
              </a:lnSpc>
              <a:spcBef>
                <a:spcPts val="0"/>
              </a:spcBef>
              <a:spcAft>
                <a:spcPts val="0"/>
              </a:spcAft>
              <a:buSzPts val="1100"/>
              <a:buChar char="●"/>
            </a:pPr>
            <a:r>
              <a:rPr lang="es-419" sz="1100"/>
              <a:t>Tipo de caso</a:t>
            </a:r>
            <a:endParaRPr sz="1100"/>
          </a:p>
          <a:p>
            <a:pPr indent="-298450" lvl="0" marL="457200" rtl="0" algn="l">
              <a:lnSpc>
                <a:spcPct val="115000"/>
              </a:lnSpc>
              <a:spcBef>
                <a:spcPts val="0"/>
              </a:spcBef>
              <a:spcAft>
                <a:spcPts val="0"/>
              </a:spcAft>
              <a:buSzPts val="1100"/>
              <a:buChar char="●"/>
            </a:pPr>
            <a:r>
              <a:rPr lang="es-419" sz="1100"/>
              <a:t>Tipo de demandante</a:t>
            </a:r>
            <a:endParaRPr sz="1100"/>
          </a:p>
          <a:p>
            <a:pPr indent="-298450" lvl="0" marL="457200" rtl="0" algn="l">
              <a:lnSpc>
                <a:spcPct val="115000"/>
              </a:lnSpc>
              <a:spcBef>
                <a:spcPts val="0"/>
              </a:spcBef>
              <a:spcAft>
                <a:spcPts val="0"/>
              </a:spcAft>
              <a:buSzPts val="1100"/>
              <a:buChar char="●"/>
            </a:pPr>
            <a:r>
              <a:rPr lang="es-419" sz="1100"/>
              <a:t>Tipo de demandado</a:t>
            </a:r>
            <a:endParaRPr sz="1100"/>
          </a:p>
          <a:p>
            <a:pPr indent="-298450" lvl="0" marL="457200" rtl="0" algn="l">
              <a:lnSpc>
                <a:spcPct val="115000"/>
              </a:lnSpc>
              <a:spcBef>
                <a:spcPts val="0"/>
              </a:spcBef>
              <a:spcAft>
                <a:spcPts val="0"/>
              </a:spcAft>
              <a:buSzPts val="1100"/>
              <a:buChar char="●"/>
            </a:pPr>
            <a:r>
              <a:rPr lang="es-419" sz="1100"/>
              <a:t>Firma legal representante del demandante</a:t>
            </a:r>
            <a:endParaRPr sz="1100"/>
          </a:p>
          <a:p>
            <a:pPr indent="-298450" lvl="0" marL="457200" rtl="0" algn="l">
              <a:lnSpc>
                <a:spcPct val="115000"/>
              </a:lnSpc>
              <a:spcBef>
                <a:spcPts val="0"/>
              </a:spcBef>
              <a:spcAft>
                <a:spcPts val="0"/>
              </a:spcAft>
              <a:buSzPts val="1100"/>
              <a:buChar char="●"/>
            </a:pPr>
            <a:r>
              <a:rPr lang="es-419" sz="1100"/>
              <a:t>Firma legal representante del demandado</a:t>
            </a:r>
            <a:endParaRPr sz="1100"/>
          </a:p>
          <a:p>
            <a:pPr indent="-298450" lvl="0" marL="457200" rtl="0" algn="l">
              <a:lnSpc>
                <a:spcPct val="115000"/>
              </a:lnSpc>
              <a:spcBef>
                <a:spcPts val="0"/>
              </a:spcBef>
              <a:spcAft>
                <a:spcPts val="0"/>
              </a:spcAft>
              <a:buSzPts val="1100"/>
              <a:buChar char="●"/>
            </a:pPr>
            <a:r>
              <a:rPr lang="es-419" sz="1100"/>
              <a:t>Juez que preside el caso</a:t>
            </a:r>
            <a:endParaRPr sz="1100"/>
          </a:p>
          <a:p>
            <a:pPr indent="-298450" lvl="0" marL="457200" rtl="0" algn="l">
              <a:lnSpc>
                <a:spcPct val="115000"/>
              </a:lnSpc>
              <a:spcBef>
                <a:spcPts val="0"/>
              </a:spcBef>
              <a:spcAft>
                <a:spcPts val="0"/>
              </a:spcAft>
              <a:buSzPts val="1100"/>
              <a:buChar char="●"/>
            </a:pPr>
            <a:r>
              <a:rPr lang="es-419" sz="1100"/>
              <a:t>Resultado del caso</a:t>
            </a:r>
            <a:endParaRPr sz="1100"/>
          </a:p>
          <a:p>
            <a:pPr indent="-298450" lvl="0" marL="457200" rtl="0" algn="l">
              <a:lnSpc>
                <a:spcPct val="115000"/>
              </a:lnSpc>
              <a:spcBef>
                <a:spcPts val="0"/>
              </a:spcBef>
              <a:spcAft>
                <a:spcPts val="0"/>
              </a:spcAft>
              <a:buSzPts val="1100"/>
              <a:buChar char="●"/>
            </a:pPr>
            <a:r>
              <a:rPr lang="es-419" sz="1100"/>
              <a:t>Método de </a:t>
            </a:r>
            <a:r>
              <a:rPr lang="es-419" sz="1100"/>
              <a:t>resolución</a:t>
            </a:r>
            <a:endParaRPr sz="1100"/>
          </a:p>
          <a:p>
            <a:pPr indent="-298450" lvl="0" marL="457200" rtl="0" algn="l">
              <a:lnSpc>
                <a:spcPct val="115000"/>
              </a:lnSpc>
              <a:spcBef>
                <a:spcPts val="0"/>
              </a:spcBef>
              <a:spcAft>
                <a:spcPts val="0"/>
              </a:spcAft>
              <a:buSzPts val="1100"/>
              <a:buChar char="●"/>
            </a:pPr>
            <a:r>
              <a:rPr lang="es-419" sz="1100"/>
              <a:t>Monto otorgado en dólares</a:t>
            </a:r>
            <a:endParaRPr sz="1100"/>
          </a:p>
          <a:p>
            <a:pPr indent="-298450" lvl="0" marL="457200" rtl="0" algn="l">
              <a:lnSpc>
                <a:spcPct val="115000"/>
              </a:lnSpc>
              <a:spcBef>
                <a:spcPts val="0"/>
              </a:spcBef>
              <a:spcAft>
                <a:spcPts val="0"/>
              </a:spcAft>
              <a:buSzPts val="1100"/>
              <a:buChar char="●"/>
            </a:pPr>
            <a:r>
              <a:rPr lang="es-419" sz="1100"/>
              <a:t>Si se presentó apelación</a:t>
            </a:r>
            <a:r>
              <a:rPr lang="es-419" sz="1100"/>
              <a:t> </a:t>
            </a:r>
            <a:endParaRPr sz="1100"/>
          </a:p>
          <a:p>
            <a:pPr indent="-298450" lvl="0" marL="457200" rtl="0" algn="l">
              <a:lnSpc>
                <a:spcPct val="115000"/>
              </a:lnSpc>
              <a:spcBef>
                <a:spcPts val="0"/>
              </a:spcBef>
              <a:spcAft>
                <a:spcPts val="0"/>
              </a:spcAft>
              <a:buSzPts val="1100"/>
              <a:buChar char="●"/>
            </a:pPr>
            <a:r>
              <a:rPr lang="es-419" sz="1100"/>
              <a:t>Honorarios legales del demandante en </a:t>
            </a:r>
            <a:r>
              <a:rPr lang="es-419" sz="1100"/>
              <a:t>dólares</a:t>
            </a:r>
            <a:endParaRPr sz="1100"/>
          </a:p>
          <a:p>
            <a:pPr indent="-298450" lvl="0" marL="457200" rtl="0" algn="l">
              <a:lnSpc>
                <a:spcPct val="115000"/>
              </a:lnSpc>
              <a:spcBef>
                <a:spcPts val="0"/>
              </a:spcBef>
              <a:spcAft>
                <a:spcPts val="0"/>
              </a:spcAft>
              <a:buSzPts val="1100"/>
              <a:buChar char="●"/>
            </a:pPr>
            <a:r>
              <a:rPr lang="es-419" sz="1100"/>
              <a:t>Honorarios legales del demandado en </a:t>
            </a:r>
            <a:r>
              <a:rPr lang="es-419" sz="1100"/>
              <a:t>dólares</a:t>
            </a:r>
            <a:endParaRPr sz="1100"/>
          </a:p>
          <a:p>
            <a:pPr indent="-298450" lvl="0" marL="457200" rtl="0" algn="l">
              <a:lnSpc>
                <a:spcPct val="115000"/>
              </a:lnSpc>
              <a:spcBef>
                <a:spcPts val="0"/>
              </a:spcBef>
              <a:spcAft>
                <a:spcPts val="0"/>
              </a:spcAft>
              <a:buSzPts val="1100"/>
              <a:buChar char="●"/>
            </a:pPr>
            <a:r>
              <a:rPr lang="es-419" sz="1100"/>
              <a:t>Días desde la presentación hasta la resolución</a:t>
            </a:r>
            <a:r>
              <a:rPr lang="es-419" sz="1100"/>
              <a:t> </a:t>
            </a:r>
            <a:endParaRPr sz="1100"/>
          </a:p>
          <a:p>
            <a:pPr indent="0" lvl="0" marL="0" rtl="0" algn="l">
              <a:lnSpc>
                <a:spcPct val="115000"/>
              </a:lnSpc>
              <a:spcBef>
                <a:spcPts val="1200"/>
              </a:spcBef>
              <a:spcAft>
                <a:spcPts val="0"/>
              </a:spcAft>
              <a:buNone/>
            </a:pPr>
            <a:r>
              <a:rPr b="1" lang="es-419">
                <a:latin typeface="Maven Pro"/>
                <a:ea typeface="Maven Pro"/>
                <a:cs typeface="Maven Pro"/>
                <a:sym typeface="Maven Pro"/>
              </a:rPr>
              <a:t>Periodo temporal analizado:</a:t>
            </a:r>
            <a:r>
              <a:rPr lang="es-419"/>
              <a:t> 2010-2024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17"/>
          <p:cNvPicPr preferRelativeResize="0"/>
          <p:nvPr/>
        </p:nvPicPr>
        <p:blipFill>
          <a:blip r:embed="rId3">
            <a:alphaModFix/>
          </a:blip>
          <a:stretch>
            <a:fillRect/>
          </a:stretch>
        </p:blipFill>
        <p:spPr>
          <a:xfrm>
            <a:off x="218250" y="799025"/>
            <a:ext cx="8707500" cy="4155225"/>
          </a:xfrm>
          <a:prstGeom prst="rect">
            <a:avLst/>
          </a:prstGeom>
          <a:noFill/>
          <a:ln>
            <a:noFill/>
          </a:ln>
        </p:spPr>
      </p:pic>
      <p:sp>
        <p:nvSpPr>
          <p:cNvPr id="301" name="Google Shape;301;p17"/>
          <p:cNvSpPr txBox="1"/>
          <p:nvPr/>
        </p:nvSpPr>
        <p:spPr>
          <a:xfrm>
            <a:off x="1508525" y="382275"/>
            <a:ext cx="6300" cy="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302" name="Google Shape;302;p17"/>
          <p:cNvSpPr txBox="1"/>
          <p:nvPr/>
        </p:nvSpPr>
        <p:spPr>
          <a:xfrm>
            <a:off x="1811650" y="45500"/>
            <a:ext cx="5620200" cy="44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2400">
                <a:solidFill>
                  <a:schemeClr val="dk2"/>
                </a:solidFill>
                <a:latin typeface="Maven Pro"/>
                <a:ea typeface="Maven Pro"/>
                <a:cs typeface="Maven Pro"/>
                <a:sym typeface="Maven Pro"/>
              </a:rPr>
              <a:t>Análisis Exploratorio de Datos </a:t>
            </a:r>
            <a:endParaRPr b="1" sz="2400">
              <a:solidFill>
                <a:schemeClr val="dk2"/>
              </a:solidFill>
              <a:latin typeface="Maven Pro"/>
              <a:ea typeface="Maven Pro"/>
              <a:cs typeface="Maven Pro"/>
              <a:sym typeface="Maven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18"/>
          <p:cNvPicPr preferRelativeResize="0"/>
          <p:nvPr/>
        </p:nvPicPr>
        <p:blipFill>
          <a:blip r:embed="rId3">
            <a:alphaModFix/>
          </a:blip>
          <a:stretch>
            <a:fillRect/>
          </a:stretch>
        </p:blipFill>
        <p:spPr>
          <a:xfrm>
            <a:off x="57675" y="110725"/>
            <a:ext cx="4949300" cy="4135250"/>
          </a:xfrm>
          <a:prstGeom prst="rect">
            <a:avLst/>
          </a:prstGeom>
          <a:noFill/>
          <a:ln>
            <a:noFill/>
          </a:ln>
        </p:spPr>
      </p:pic>
      <p:sp>
        <p:nvSpPr>
          <p:cNvPr id="308" name="Google Shape;308;p18"/>
          <p:cNvSpPr txBox="1"/>
          <p:nvPr/>
        </p:nvSpPr>
        <p:spPr>
          <a:xfrm>
            <a:off x="5253275" y="281225"/>
            <a:ext cx="3890700" cy="455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419" sz="1100"/>
              <a:t>Para garantizar la validez del análisis estadístico, los datos fueron sometidos a un proceso de preparación que incluyó el </a:t>
            </a:r>
            <a:r>
              <a:rPr b="1" lang="es-419" sz="1100"/>
              <a:t>ajuste de los montos económicos por inflación (CPI)</a:t>
            </a:r>
            <a:r>
              <a:rPr lang="es-419" sz="1100"/>
              <a:t>, con el objetivo de hacer comparables los valores a lo largo del tiempo.</a:t>
            </a:r>
            <a:endParaRPr sz="1100"/>
          </a:p>
          <a:p>
            <a:pPr indent="0" lvl="0" marL="0" rtl="0" algn="l">
              <a:lnSpc>
                <a:spcPct val="115000"/>
              </a:lnSpc>
              <a:spcBef>
                <a:spcPts val="1200"/>
              </a:spcBef>
              <a:spcAft>
                <a:spcPts val="0"/>
              </a:spcAft>
              <a:buNone/>
            </a:pPr>
            <a:r>
              <a:rPr lang="es-419" sz="1100"/>
              <a:t>Además, se aplicó un </a:t>
            </a:r>
            <a:r>
              <a:rPr b="1" lang="es-419" sz="1100"/>
              <a:t>tratamiento de valores atípicos mediante winsorización</a:t>
            </a:r>
            <a:r>
              <a:rPr lang="es-419" sz="1100"/>
              <a:t>, reduciendo la influencia de compensaciones extremadamente altas sin eliminar observaciones.</a:t>
            </a:r>
            <a:endParaRPr sz="1100"/>
          </a:p>
          <a:p>
            <a:pPr indent="0" lvl="0" marL="0" rtl="0" algn="l">
              <a:lnSpc>
                <a:spcPct val="115000"/>
              </a:lnSpc>
              <a:spcBef>
                <a:spcPts val="1200"/>
              </a:spcBef>
              <a:spcAft>
                <a:spcPts val="1200"/>
              </a:spcAft>
              <a:buNone/>
            </a:pPr>
            <a:r>
              <a:rPr lang="es-419" sz="1100"/>
              <a:t>Finalmente, se realizó la </a:t>
            </a:r>
            <a:r>
              <a:rPr b="1" lang="es-419" sz="1100"/>
              <a:t>codificación de variables categóricas</a:t>
            </a:r>
            <a:r>
              <a:rPr lang="es-419" sz="1100"/>
              <a:t> y la </a:t>
            </a:r>
            <a:r>
              <a:rPr b="1" lang="es-419" sz="1100"/>
              <a:t>estandarización de variables numéricas</a:t>
            </a:r>
            <a:r>
              <a:rPr lang="es-419" sz="1100"/>
              <a:t>, lo que permitió aplicar correctamente técnicas como regresión y PCA.</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19"/>
          <p:cNvPicPr preferRelativeResize="0"/>
          <p:nvPr/>
        </p:nvPicPr>
        <p:blipFill>
          <a:blip r:embed="rId3">
            <a:alphaModFix/>
          </a:blip>
          <a:stretch>
            <a:fillRect/>
          </a:stretch>
        </p:blipFill>
        <p:spPr>
          <a:xfrm>
            <a:off x="335550" y="699900"/>
            <a:ext cx="8624575" cy="4115426"/>
          </a:xfrm>
          <a:prstGeom prst="rect">
            <a:avLst/>
          </a:prstGeom>
          <a:noFill/>
          <a:ln>
            <a:noFill/>
          </a:ln>
        </p:spPr>
      </p:pic>
      <p:sp>
        <p:nvSpPr>
          <p:cNvPr id="314" name="Google Shape;314;p19"/>
          <p:cNvSpPr txBox="1"/>
          <p:nvPr/>
        </p:nvSpPr>
        <p:spPr>
          <a:xfrm>
            <a:off x="283425" y="85475"/>
            <a:ext cx="8209500" cy="54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dk2"/>
                </a:solidFill>
                <a:latin typeface="Maven Pro"/>
                <a:ea typeface="Maven Pro"/>
                <a:cs typeface="Maven Pro"/>
                <a:sym typeface="Maven Pro"/>
              </a:rPr>
              <a:t>¿Qué factores explican mejor el monto </a:t>
            </a:r>
            <a:r>
              <a:rPr b="1" lang="es-419" sz="1800">
                <a:solidFill>
                  <a:schemeClr val="dk2"/>
                </a:solidFill>
                <a:latin typeface="Maven Pro"/>
                <a:ea typeface="Maven Pro"/>
                <a:cs typeface="Maven Pro"/>
                <a:sym typeface="Maven Pro"/>
              </a:rPr>
              <a:t>económico</a:t>
            </a:r>
            <a:r>
              <a:rPr b="1" lang="es-419" sz="1800">
                <a:solidFill>
                  <a:schemeClr val="dk2"/>
                </a:solidFill>
                <a:latin typeface="Maven Pro"/>
                <a:ea typeface="Maven Pro"/>
                <a:cs typeface="Maven Pro"/>
                <a:sym typeface="Maven Pro"/>
              </a:rPr>
              <a:t> otorgado en juicios civiles federales ?</a:t>
            </a:r>
            <a:endParaRPr b="1" sz="1800">
              <a:solidFill>
                <a:schemeClr val="dk2"/>
              </a:solidFill>
              <a:latin typeface="Maven Pro"/>
              <a:ea typeface="Maven Pro"/>
              <a:cs typeface="Maven Pro"/>
              <a:sym typeface="Maven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pic>
        <p:nvPicPr>
          <p:cNvPr id="319" name="Google Shape;319;p20"/>
          <p:cNvPicPr preferRelativeResize="0"/>
          <p:nvPr/>
        </p:nvPicPr>
        <p:blipFill>
          <a:blip r:embed="rId3">
            <a:alphaModFix/>
          </a:blip>
          <a:stretch>
            <a:fillRect/>
          </a:stretch>
        </p:blipFill>
        <p:spPr>
          <a:xfrm>
            <a:off x="278700" y="701775"/>
            <a:ext cx="8839200" cy="2453956"/>
          </a:xfrm>
          <a:prstGeom prst="rect">
            <a:avLst/>
          </a:prstGeom>
          <a:noFill/>
          <a:ln>
            <a:noFill/>
          </a:ln>
        </p:spPr>
      </p:pic>
      <p:sp>
        <p:nvSpPr>
          <p:cNvPr id="320" name="Google Shape;320;p20"/>
          <p:cNvSpPr txBox="1"/>
          <p:nvPr/>
        </p:nvSpPr>
        <p:spPr>
          <a:xfrm>
            <a:off x="820200" y="3615500"/>
            <a:ext cx="8026200" cy="128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300">
                <a:solidFill>
                  <a:schemeClr val="dk2"/>
                </a:solidFill>
                <a:latin typeface="Nunito"/>
                <a:ea typeface="Nunito"/>
                <a:cs typeface="Nunito"/>
                <a:sym typeface="Nunito"/>
              </a:rPr>
              <a:t>Resultados:</a:t>
            </a:r>
            <a:r>
              <a:rPr lang="es-419" sz="1050">
                <a:solidFill>
                  <a:srgbClr val="1F1F1F"/>
                </a:solidFill>
                <a:highlight>
                  <a:schemeClr val="lt1"/>
                </a:highlight>
                <a:latin typeface="Nunito"/>
                <a:ea typeface="Nunito"/>
                <a:cs typeface="Nunito"/>
                <a:sym typeface="Nunito"/>
              </a:rPr>
              <a:t>Los dos primeros componentes principales explican el 76.8% de la varianza total, con PC1 (52.9%) capturando predominantemente la dimensión de costo-tiempo (honorarios y duración) y PC2 (23.9%) la dimensión económica (monto otorgado). El claro punto de inflexión en el segundo componente sugiere que dos dimensiones latentes caracterizan eficientemente los perfiles de casos, aunque tres componentes alcanzarían el umbral estándar del 80% de varianza explicada.</a:t>
            </a:r>
            <a:endParaRPr sz="1050">
              <a:solidFill>
                <a:srgbClr val="1F1F1F"/>
              </a:solidFill>
              <a:highlight>
                <a:schemeClr val="lt1"/>
              </a:highlight>
              <a:latin typeface="Nunito"/>
              <a:ea typeface="Nunito"/>
              <a:cs typeface="Nunito"/>
              <a:sym typeface="Nunito"/>
            </a:endParaRPr>
          </a:p>
          <a:p>
            <a:pPr indent="0" lvl="0" marL="0" rtl="0" algn="l">
              <a:spcBef>
                <a:spcPts val="0"/>
              </a:spcBef>
              <a:spcAft>
                <a:spcPts val="0"/>
              </a:spcAft>
              <a:buNone/>
            </a:pPr>
            <a:r>
              <a:t/>
            </a:r>
            <a:endParaRPr sz="1050">
              <a:solidFill>
                <a:srgbClr val="CCCCCC"/>
              </a:solidFill>
              <a:highlight>
                <a:srgbClr val="1F1F1F"/>
              </a:highlight>
              <a:latin typeface="Nunito"/>
              <a:ea typeface="Nunito"/>
              <a:cs typeface="Nunito"/>
              <a:sym typeface="Nunit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sp>
        <p:nvSpPr>
          <p:cNvPr id="321" name="Google Shape;321;p20"/>
          <p:cNvSpPr txBox="1"/>
          <p:nvPr/>
        </p:nvSpPr>
        <p:spPr>
          <a:xfrm>
            <a:off x="423150" y="0"/>
            <a:ext cx="8550300" cy="505200"/>
          </a:xfrm>
          <a:prstGeom prst="rect">
            <a:avLst/>
          </a:prstGeom>
          <a:noFill/>
          <a:ln>
            <a:noFill/>
          </a:ln>
        </p:spPr>
        <p:txBody>
          <a:bodyPr anchorCtr="0" anchor="t" bIns="91425" lIns="91425" spcFirstLastPara="1" rIns="91425" wrap="square" tIns="91425">
            <a:noAutofit/>
          </a:bodyPr>
          <a:lstStyle/>
          <a:p>
            <a:pPr indent="0" lvl="0" marL="0" rtl="0" algn="just">
              <a:lnSpc>
                <a:spcPct val="135714"/>
              </a:lnSpc>
              <a:spcBef>
                <a:spcPts val="0"/>
              </a:spcBef>
              <a:spcAft>
                <a:spcPts val="0"/>
              </a:spcAft>
              <a:buNone/>
            </a:pPr>
            <a:r>
              <a:rPr b="1" lang="es-419" sz="2400">
                <a:solidFill>
                  <a:srgbClr val="1F1F1F"/>
                </a:solidFill>
                <a:highlight>
                  <a:schemeClr val="lt1"/>
                </a:highlight>
                <a:latin typeface="Maven Pro"/>
                <a:ea typeface="Maven Pro"/>
                <a:cs typeface="Maven Pro"/>
                <a:sym typeface="Maven Pro"/>
              </a:rPr>
              <a:t>Caracterización de Perfiles de Casos (PCA)</a:t>
            </a:r>
            <a:endParaRPr b="1" sz="2400">
              <a:solidFill>
                <a:srgbClr val="1F1F1F"/>
              </a:solidFill>
              <a:highlight>
                <a:schemeClr val="lt1"/>
              </a:highlight>
              <a:latin typeface="Maven Pro"/>
              <a:ea typeface="Maven Pro"/>
              <a:cs typeface="Maven Pro"/>
              <a:sym typeface="Maven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1"/>
          <p:cNvSpPr txBox="1"/>
          <p:nvPr/>
        </p:nvSpPr>
        <p:spPr>
          <a:xfrm>
            <a:off x="1356975" y="73675"/>
            <a:ext cx="6510600" cy="491700"/>
          </a:xfrm>
          <a:prstGeom prst="rect">
            <a:avLst/>
          </a:prstGeom>
          <a:noFill/>
          <a:ln>
            <a:noFill/>
          </a:ln>
        </p:spPr>
        <p:txBody>
          <a:bodyPr anchorCtr="0" anchor="t" bIns="91425" lIns="91425" spcFirstLastPara="1" rIns="91425" wrap="square" tIns="91425">
            <a:noAutofit/>
          </a:bodyPr>
          <a:lstStyle/>
          <a:p>
            <a:pPr indent="0" lvl="0" marL="0" rtl="0" algn="ctr">
              <a:lnSpc>
                <a:spcPct val="135714"/>
              </a:lnSpc>
              <a:spcBef>
                <a:spcPts val="0"/>
              </a:spcBef>
              <a:spcAft>
                <a:spcPts val="0"/>
              </a:spcAft>
              <a:buNone/>
            </a:pPr>
            <a:r>
              <a:rPr b="1" lang="es-419" sz="2400">
                <a:solidFill>
                  <a:srgbClr val="1F1F1F"/>
                </a:solidFill>
                <a:highlight>
                  <a:schemeClr val="lt1"/>
                </a:highlight>
                <a:latin typeface="Maven Pro"/>
                <a:ea typeface="Maven Pro"/>
                <a:cs typeface="Maven Pro"/>
                <a:sym typeface="Maven Pro"/>
              </a:rPr>
              <a:t>Disparidades por Tipo de Juicio</a:t>
            </a:r>
            <a:endParaRPr b="1" sz="2400">
              <a:solidFill>
                <a:srgbClr val="1F1F1F"/>
              </a:solidFill>
              <a:highlight>
                <a:schemeClr val="lt1"/>
              </a:highlight>
              <a:latin typeface="Maven Pro"/>
              <a:ea typeface="Maven Pro"/>
              <a:cs typeface="Maven Pro"/>
              <a:sym typeface="Maven Pro"/>
            </a:endParaRPr>
          </a:p>
          <a:p>
            <a:pPr indent="0" lvl="0" marL="0" rtl="0" algn="l">
              <a:spcBef>
                <a:spcPts val="0"/>
              </a:spcBef>
              <a:spcAft>
                <a:spcPts val="0"/>
              </a:spcAft>
              <a:buNone/>
            </a:pPr>
            <a:r>
              <a:t/>
            </a:r>
            <a:endParaRPr sz="1300">
              <a:solidFill>
                <a:schemeClr val="dk2"/>
              </a:solidFill>
              <a:latin typeface="Nunito"/>
              <a:ea typeface="Nunito"/>
              <a:cs typeface="Nunito"/>
              <a:sym typeface="Nunito"/>
            </a:endParaRPr>
          </a:p>
        </p:txBody>
      </p:sp>
      <p:pic>
        <p:nvPicPr>
          <p:cNvPr id="327" name="Google Shape;327;p21"/>
          <p:cNvPicPr preferRelativeResize="0"/>
          <p:nvPr/>
        </p:nvPicPr>
        <p:blipFill>
          <a:blip r:embed="rId3">
            <a:alphaModFix/>
          </a:blip>
          <a:stretch>
            <a:fillRect/>
          </a:stretch>
        </p:blipFill>
        <p:spPr>
          <a:xfrm>
            <a:off x="695475" y="730375"/>
            <a:ext cx="7953150" cy="3270324"/>
          </a:xfrm>
          <a:prstGeom prst="rect">
            <a:avLst/>
          </a:prstGeom>
          <a:noFill/>
          <a:ln>
            <a:noFill/>
          </a:ln>
        </p:spPr>
      </p:pic>
      <p:sp>
        <p:nvSpPr>
          <p:cNvPr id="328" name="Google Shape;328;p21"/>
          <p:cNvSpPr txBox="1"/>
          <p:nvPr/>
        </p:nvSpPr>
        <p:spPr>
          <a:xfrm>
            <a:off x="1281000" y="4000700"/>
            <a:ext cx="6782100" cy="1142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s-419" sz="1050">
                <a:solidFill>
                  <a:srgbClr val="1F1F1F"/>
                </a:solidFill>
                <a:highlight>
                  <a:schemeClr val="lt1"/>
                </a:highlight>
                <a:latin typeface="Nunito"/>
                <a:ea typeface="Nunito"/>
                <a:cs typeface="Nunito"/>
                <a:sym typeface="Nunito"/>
              </a:rPr>
              <a:t>Existen diferencias estadísticamente significativas entre Jury y Bench Trials en el período completo (p = 0.000034), aunque esta disparidad no se manifiesta consistentemente año a año. Solo 2018 (p = 0.011) y 2020 (p = 0.006) muestran diferencias significativas individualmente, sugiriendo que factores contextuales específicos (posiblemente relacionados con eventos sociales como #MeToo y COVID-19) moderan esta relación temporalmente.</a:t>
            </a:r>
            <a:endParaRPr sz="1050">
              <a:solidFill>
                <a:srgbClr val="1F1F1F"/>
              </a:solidFill>
              <a:highlight>
                <a:schemeClr val="lt1"/>
              </a:highlight>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2"/>
          <p:cNvSpPr txBox="1"/>
          <p:nvPr>
            <p:ph idx="4294967295" type="title"/>
          </p:nvPr>
        </p:nvSpPr>
        <p:spPr>
          <a:xfrm>
            <a:off x="1590625" y="106025"/>
            <a:ext cx="5165100" cy="560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419"/>
              <a:t>Conclusiones</a:t>
            </a:r>
            <a:endParaRPr/>
          </a:p>
        </p:txBody>
      </p:sp>
      <p:sp>
        <p:nvSpPr>
          <p:cNvPr id="334" name="Google Shape;334;p22"/>
          <p:cNvSpPr txBox="1"/>
          <p:nvPr>
            <p:ph idx="4294967295" type="body"/>
          </p:nvPr>
        </p:nvSpPr>
        <p:spPr>
          <a:xfrm>
            <a:off x="333950" y="723275"/>
            <a:ext cx="8607300" cy="4218000"/>
          </a:xfrm>
          <a:prstGeom prst="rect">
            <a:avLst/>
          </a:prstGeom>
        </p:spPr>
        <p:txBody>
          <a:bodyPr anchorCtr="0" anchor="t" bIns="91425" lIns="91425" spcFirstLastPara="1" rIns="91425" wrap="square" tIns="91425">
            <a:normAutofit fontScale="55000" lnSpcReduction="20000"/>
          </a:bodyPr>
          <a:lstStyle/>
          <a:p>
            <a:pPr indent="0" lvl="0" marL="0" rtl="0" algn="l">
              <a:spcBef>
                <a:spcPts val="1400"/>
              </a:spcBef>
              <a:spcAft>
                <a:spcPts val="0"/>
              </a:spcAft>
              <a:buNone/>
            </a:pPr>
            <a:r>
              <a:t/>
            </a:r>
            <a:endParaRPr b="1">
              <a:solidFill>
                <a:srgbClr val="000000"/>
              </a:solidFill>
              <a:latin typeface="Arial"/>
              <a:ea typeface="Arial"/>
              <a:cs typeface="Arial"/>
              <a:sym typeface="Arial"/>
            </a:endParaRPr>
          </a:p>
          <a:p>
            <a:pPr indent="-294957" lvl="0" marL="457200" rtl="0" algn="l">
              <a:spcBef>
                <a:spcPts val="1200"/>
              </a:spcBef>
              <a:spcAft>
                <a:spcPts val="0"/>
              </a:spcAft>
              <a:buClr>
                <a:srgbClr val="000000"/>
              </a:buClr>
              <a:buSzPct val="100000"/>
              <a:buFont typeface="Arial"/>
              <a:buChar char="●"/>
            </a:pPr>
            <a:r>
              <a:rPr lang="es-419" sz="1900">
                <a:solidFill>
                  <a:srgbClr val="000000"/>
                </a:solidFill>
                <a:latin typeface="Nunito Medium"/>
                <a:ea typeface="Nunito Medium"/>
                <a:cs typeface="Nunito Medium"/>
                <a:sym typeface="Nunito Medium"/>
              </a:rPr>
              <a:t>El análisis estadístico de juicios civiles federales (2010–2024) revela una estructura compleja y multidimensional en los resultados económicos.</a:t>
            </a:r>
            <a:br>
              <a:rPr lang="es-419" sz="1900">
                <a:solidFill>
                  <a:srgbClr val="000000"/>
                </a:solidFill>
                <a:latin typeface="Nunito Medium"/>
                <a:ea typeface="Nunito Medium"/>
                <a:cs typeface="Nunito Medium"/>
                <a:sym typeface="Nunito Medium"/>
              </a:rPr>
            </a:br>
            <a:endParaRPr sz="1900">
              <a:solidFill>
                <a:srgbClr val="000000"/>
              </a:solidFill>
              <a:latin typeface="Nunito Medium"/>
              <a:ea typeface="Nunito Medium"/>
              <a:cs typeface="Nunito Medium"/>
              <a:sym typeface="Nunito Medium"/>
            </a:endParaRPr>
          </a:p>
          <a:p>
            <a:pPr indent="-294957" lvl="0" marL="457200" rtl="0" algn="l">
              <a:spcBef>
                <a:spcPts val="0"/>
              </a:spcBef>
              <a:spcAft>
                <a:spcPts val="0"/>
              </a:spcAft>
              <a:buClr>
                <a:srgbClr val="000000"/>
              </a:buClr>
              <a:buSzPct val="100000"/>
              <a:buFont typeface="Arial"/>
              <a:buChar char="●"/>
            </a:pPr>
            <a:r>
              <a:rPr lang="es-419" sz="1900">
                <a:solidFill>
                  <a:srgbClr val="000000"/>
                </a:solidFill>
                <a:latin typeface="Nunito Medium"/>
                <a:ea typeface="Nunito Medium"/>
                <a:cs typeface="Nunito Medium"/>
                <a:sym typeface="Nunito Medium"/>
              </a:rPr>
              <a:t>La regresión lineal identifica al resultado del caso como el predictor más fuerte del monto otorgado, seguido por el tipo de caso, honorarios legales y factores jurisdiccionales.</a:t>
            </a:r>
            <a:br>
              <a:rPr lang="es-419" sz="1900">
                <a:solidFill>
                  <a:srgbClr val="000000"/>
                </a:solidFill>
                <a:latin typeface="Nunito Medium"/>
                <a:ea typeface="Nunito Medium"/>
                <a:cs typeface="Nunito Medium"/>
                <a:sym typeface="Nunito Medium"/>
              </a:rPr>
            </a:br>
            <a:endParaRPr sz="1900">
              <a:solidFill>
                <a:srgbClr val="000000"/>
              </a:solidFill>
              <a:latin typeface="Nunito Medium"/>
              <a:ea typeface="Nunito Medium"/>
              <a:cs typeface="Nunito Medium"/>
              <a:sym typeface="Nunito Medium"/>
            </a:endParaRPr>
          </a:p>
          <a:p>
            <a:pPr indent="-294957" lvl="0" marL="457200" rtl="0" algn="l">
              <a:spcBef>
                <a:spcPts val="0"/>
              </a:spcBef>
              <a:spcAft>
                <a:spcPts val="0"/>
              </a:spcAft>
              <a:buClr>
                <a:srgbClr val="000000"/>
              </a:buClr>
              <a:buSzPct val="100000"/>
              <a:buFont typeface="Arial"/>
              <a:buChar char="●"/>
            </a:pPr>
            <a:r>
              <a:rPr lang="es-419" sz="1900">
                <a:solidFill>
                  <a:srgbClr val="000000"/>
                </a:solidFill>
                <a:latin typeface="Nunito Medium"/>
                <a:ea typeface="Nunito Medium"/>
                <a:cs typeface="Nunito Medium"/>
                <a:sym typeface="Nunito Medium"/>
              </a:rPr>
              <a:t>El modelo explica una proporción moderada de la variabilidad (R² ≈ 37%), evidenciando la influencia de factores no observados.</a:t>
            </a:r>
            <a:br>
              <a:rPr lang="es-419" sz="1900">
                <a:solidFill>
                  <a:srgbClr val="000000"/>
                </a:solidFill>
                <a:latin typeface="Nunito Medium"/>
                <a:ea typeface="Nunito Medium"/>
                <a:cs typeface="Nunito Medium"/>
                <a:sym typeface="Nunito Medium"/>
              </a:rPr>
            </a:br>
            <a:endParaRPr sz="1900">
              <a:solidFill>
                <a:srgbClr val="000000"/>
              </a:solidFill>
              <a:latin typeface="Nunito Medium"/>
              <a:ea typeface="Nunito Medium"/>
              <a:cs typeface="Nunito Medium"/>
              <a:sym typeface="Nunito Medium"/>
            </a:endParaRPr>
          </a:p>
          <a:p>
            <a:pPr indent="-294957" lvl="0" marL="457200" rtl="0" algn="l">
              <a:spcBef>
                <a:spcPts val="0"/>
              </a:spcBef>
              <a:spcAft>
                <a:spcPts val="0"/>
              </a:spcAft>
              <a:buClr>
                <a:srgbClr val="000000"/>
              </a:buClr>
              <a:buSzPct val="100000"/>
              <a:buFont typeface="Arial"/>
              <a:buChar char="●"/>
            </a:pPr>
            <a:r>
              <a:rPr lang="es-419" sz="1900">
                <a:solidFill>
                  <a:srgbClr val="000000"/>
                </a:solidFill>
                <a:latin typeface="Nunito Medium"/>
                <a:ea typeface="Nunito Medium"/>
                <a:cs typeface="Nunito Medium"/>
                <a:sym typeface="Nunito Medium"/>
              </a:rPr>
              <a:t>El PCA identifica dos dimensiones latentes fundamentales:</a:t>
            </a:r>
            <a:br>
              <a:rPr lang="es-419" sz="1900">
                <a:solidFill>
                  <a:srgbClr val="000000"/>
                </a:solidFill>
                <a:latin typeface="Nunito Medium"/>
                <a:ea typeface="Nunito Medium"/>
                <a:cs typeface="Nunito Medium"/>
                <a:sym typeface="Nunito Medium"/>
              </a:rPr>
            </a:br>
            <a:endParaRPr sz="1900">
              <a:solidFill>
                <a:srgbClr val="000000"/>
              </a:solidFill>
              <a:latin typeface="Nunito Medium"/>
              <a:ea typeface="Nunito Medium"/>
              <a:cs typeface="Nunito Medium"/>
              <a:sym typeface="Nunito Medium"/>
            </a:endParaRPr>
          </a:p>
          <a:p>
            <a:pPr indent="-294957" lvl="1" marL="914400" rtl="0" algn="l">
              <a:spcBef>
                <a:spcPts val="0"/>
              </a:spcBef>
              <a:spcAft>
                <a:spcPts val="0"/>
              </a:spcAft>
              <a:buClr>
                <a:srgbClr val="000000"/>
              </a:buClr>
              <a:buSzPct val="100000"/>
              <a:buFont typeface="Arial"/>
              <a:buChar char="○"/>
            </a:pPr>
            <a:r>
              <a:rPr lang="es-419" sz="1900">
                <a:solidFill>
                  <a:srgbClr val="000000"/>
                </a:solidFill>
                <a:latin typeface="Nunito Medium"/>
                <a:ea typeface="Nunito Medium"/>
                <a:cs typeface="Nunito Medium"/>
                <a:sym typeface="Nunito Medium"/>
              </a:rPr>
              <a:t>Costo–Tiempo (complejidad procesal)</a:t>
            </a:r>
            <a:br>
              <a:rPr lang="es-419" sz="1900">
                <a:solidFill>
                  <a:srgbClr val="000000"/>
                </a:solidFill>
                <a:latin typeface="Nunito Medium"/>
                <a:ea typeface="Nunito Medium"/>
                <a:cs typeface="Nunito Medium"/>
                <a:sym typeface="Nunito Medium"/>
              </a:rPr>
            </a:br>
            <a:endParaRPr sz="1900">
              <a:solidFill>
                <a:srgbClr val="000000"/>
              </a:solidFill>
              <a:latin typeface="Nunito Medium"/>
              <a:ea typeface="Nunito Medium"/>
              <a:cs typeface="Nunito Medium"/>
              <a:sym typeface="Nunito Medium"/>
            </a:endParaRPr>
          </a:p>
          <a:p>
            <a:pPr indent="-294957" lvl="1" marL="914400" rtl="0" algn="l">
              <a:spcBef>
                <a:spcPts val="0"/>
              </a:spcBef>
              <a:spcAft>
                <a:spcPts val="0"/>
              </a:spcAft>
              <a:buClr>
                <a:srgbClr val="000000"/>
              </a:buClr>
              <a:buSzPct val="100000"/>
              <a:buFont typeface="Arial"/>
              <a:buChar char="○"/>
            </a:pPr>
            <a:r>
              <a:rPr lang="es-419" sz="1900">
                <a:solidFill>
                  <a:srgbClr val="000000"/>
                </a:solidFill>
                <a:latin typeface="Nunito Medium"/>
                <a:ea typeface="Nunito Medium"/>
                <a:cs typeface="Nunito Medium"/>
                <a:sym typeface="Nunito Medium"/>
              </a:rPr>
              <a:t>Dimensión Económica (resultado monetario)</a:t>
            </a:r>
            <a:br>
              <a:rPr lang="es-419" sz="1900">
                <a:solidFill>
                  <a:srgbClr val="000000"/>
                </a:solidFill>
                <a:latin typeface="Nunito Medium"/>
                <a:ea typeface="Nunito Medium"/>
                <a:cs typeface="Nunito Medium"/>
                <a:sym typeface="Nunito Medium"/>
              </a:rPr>
            </a:br>
            <a:endParaRPr sz="1900">
              <a:solidFill>
                <a:srgbClr val="000000"/>
              </a:solidFill>
              <a:latin typeface="Nunito Medium"/>
              <a:ea typeface="Nunito Medium"/>
              <a:cs typeface="Nunito Medium"/>
              <a:sym typeface="Nunito Medium"/>
            </a:endParaRPr>
          </a:p>
          <a:p>
            <a:pPr indent="-294957" lvl="0" marL="457200" rtl="0" algn="l">
              <a:spcBef>
                <a:spcPts val="0"/>
              </a:spcBef>
              <a:spcAft>
                <a:spcPts val="0"/>
              </a:spcAft>
              <a:buClr>
                <a:srgbClr val="000000"/>
              </a:buClr>
              <a:buSzPct val="100000"/>
              <a:buFont typeface="Arial"/>
              <a:buChar char="●"/>
            </a:pPr>
            <a:r>
              <a:rPr lang="es-419" sz="1900">
                <a:solidFill>
                  <a:srgbClr val="000000"/>
                </a:solidFill>
                <a:latin typeface="Nunito Medium"/>
                <a:ea typeface="Nunito Medium"/>
                <a:cs typeface="Nunito Medium"/>
                <a:sym typeface="Nunito Medium"/>
              </a:rPr>
              <a:t>Las pruebas no paramétricas confirman diferencias significativas entre tipos de juicio, aunque dependientes del contexto temporal.</a:t>
            </a:r>
            <a:br>
              <a:rPr lang="es-419" sz="1900">
                <a:solidFill>
                  <a:srgbClr val="000000"/>
                </a:solidFill>
                <a:latin typeface="Nunito Medium"/>
                <a:ea typeface="Nunito Medium"/>
                <a:cs typeface="Nunito Medium"/>
                <a:sym typeface="Nunito Medium"/>
              </a:rPr>
            </a:br>
            <a:endParaRPr sz="1900">
              <a:solidFill>
                <a:srgbClr val="000000"/>
              </a:solidFill>
              <a:latin typeface="Nunito Medium"/>
              <a:ea typeface="Nunito Medium"/>
              <a:cs typeface="Nunito Medium"/>
              <a:sym typeface="Nunito Medium"/>
            </a:endParaRPr>
          </a:p>
          <a:p>
            <a:pPr indent="-294957" lvl="0" marL="457200" rtl="0" algn="l">
              <a:spcBef>
                <a:spcPts val="0"/>
              </a:spcBef>
              <a:spcAft>
                <a:spcPts val="0"/>
              </a:spcAft>
              <a:buClr>
                <a:srgbClr val="000000"/>
              </a:buClr>
              <a:buSzPct val="100000"/>
              <a:buFont typeface="Arial"/>
              <a:buChar char="●"/>
            </a:pPr>
            <a:r>
              <a:rPr lang="es-419" sz="1900">
                <a:solidFill>
                  <a:srgbClr val="000000"/>
                </a:solidFill>
                <a:latin typeface="Nunito Medium"/>
                <a:ea typeface="Nunito Medium"/>
                <a:cs typeface="Nunito Medium"/>
                <a:sym typeface="Nunito Medium"/>
              </a:rPr>
              <a:t>La mayoría de los casos no reciben compensación monetaria (mediana = 0), en contraste con la percepción pública basada en casos extremos.</a:t>
            </a:r>
            <a:br>
              <a:rPr lang="es-419" sz="1900">
                <a:solidFill>
                  <a:srgbClr val="000000"/>
                </a:solidFill>
                <a:latin typeface="Nunito Medium"/>
                <a:ea typeface="Nunito Medium"/>
                <a:cs typeface="Nunito Medium"/>
                <a:sym typeface="Nunito Medium"/>
              </a:rPr>
            </a:br>
            <a:endParaRPr sz="1900">
              <a:solidFill>
                <a:srgbClr val="000000"/>
              </a:solidFill>
              <a:latin typeface="Nunito Medium"/>
              <a:ea typeface="Nunito Medium"/>
              <a:cs typeface="Nunito Medium"/>
              <a:sym typeface="Nunito Medium"/>
            </a:endParaRPr>
          </a:p>
          <a:p>
            <a:pPr indent="-294957" lvl="0" marL="457200" rtl="0" algn="l">
              <a:spcBef>
                <a:spcPts val="0"/>
              </a:spcBef>
              <a:spcAft>
                <a:spcPts val="0"/>
              </a:spcAft>
              <a:buClr>
                <a:srgbClr val="000000"/>
              </a:buClr>
              <a:buSzPct val="100000"/>
              <a:buFont typeface="Arial"/>
              <a:buChar char="●"/>
            </a:pPr>
            <a:r>
              <a:rPr lang="es-419" sz="1900">
                <a:solidFill>
                  <a:srgbClr val="000000"/>
                </a:solidFill>
                <a:latin typeface="Nunito Medium"/>
                <a:ea typeface="Nunito Medium"/>
                <a:cs typeface="Nunito Medium"/>
                <a:sym typeface="Nunito Medium"/>
              </a:rPr>
              <a:t>La combinación de técnicas estadísticas proporciona una visión más completa que cualquier método individual.</a:t>
            </a:r>
            <a:br>
              <a:rPr lang="es-419" sz="1900">
                <a:solidFill>
                  <a:srgbClr val="000000"/>
                </a:solidFill>
                <a:latin typeface="Nunito Medium"/>
                <a:ea typeface="Nunito Medium"/>
                <a:cs typeface="Nunito Medium"/>
                <a:sym typeface="Nunito Medium"/>
              </a:rPr>
            </a:br>
            <a:endParaRPr sz="1900">
              <a:solidFill>
                <a:srgbClr val="000000"/>
              </a:solidFill>
              <a:latin typeface="Nunito Medium"/>
              <a:ea typeface="Nunito Medium"/>
              <a:cs typeface="Nunito Medium"/>
              <a:sym typeface="Nunito Medium"/>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3"/>
          <p:cNvSpPr txBox="1"/>
          <p:nvPr/>
        </p:nvSpPr>
        <p:spPr>
          <a:xfrm>
            <a:off x="1382225" y="1575775"/>
            <a:ext cx="6409800" cy="15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4800">
                <a:solidFill>
                  <a:schemeClr val="dk2"/>
                </a:solidFill>
                <a:latin typeface="Maven Pro"/>
                <a:ea typeface="Maven Pro"/>
                <a:cs typeface="Maven Pro"/>
                <a:sym typeface="Maven Pro"/>
              </a:rPr>
              <a:t>Muchas Gracias.</a:t>
            </a:r>
            <a:endParaRPr b="1" sz="4800">
              <a:solidFill>
                <a:schemeClr val="dk2"/>
              </a:solidFill>
              <a:latin typeface="Maven Pro"/>
              <a:ea typeface="Maven Pro"/>
              <a:cs typeface="Maven Pro"/>
              <a:sym typeface="Maven Pro"/>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